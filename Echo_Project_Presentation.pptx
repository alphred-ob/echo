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49140"/>
            <a:ext cx="84790" cy="1120140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35014" y="3463020"/>
            <a:ext cx="84790" cy="2206260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74668" y="2493489"/>
            <a:ext cx="84790" cy="3175791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14321" y="1744623"/>
            <a:ext cx="84790" cy="3924657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53975" y="1296809"/>
            <a:ext cx="84790" cy="4372471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93629" y="1198116"/>
            <a:ext cx="84790" cy="4471164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433283" y="1459140"/>
            <a:ext cx="84790" cy="4210140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572937" y="2051861"/>
            <a:ext cx="84790" cy="3617419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712591" y="2912653"/>
            <a:ext cx="84790" cy="2756627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52244" y="3949114"/>
            <a:ext cx="84790" cy="1720166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991898" y="4048295"/>
            <a:ext cx="84790" cy="1620985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31552" y="3001188"/>
            <a:ext cx="84790" cy="2668092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271206" y="2120246"/>
            <a:ext cx="84790" cy="3549034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410860" y="1500034"/>
            <a:ext cx="84790" cy="4169246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550513" y="1207129"/>
            <a:ext cx="84790" cy="4462151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690167" y="1272973"/>
            <a:ext cx="84790" cy="4396307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829821" y="1690498"/>
            <a:ext cx="84790" cy="3978782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969475" y="2414884"/>
            <a:ext cx="84790" cy="3254396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109129" y="3368373"/>
            <a:ext cx="84790" cy="2300907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248783" y="4448611"/>
            <a:ext cx="84790" cy="1220669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88436" y="3558639"/>
            <a:ext cx="84790" cy="2110641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528090" y="2573935"/>
            <a:ext cx="84790" cy="3095345"/>
          </a:xfrm>
          <a:prstGeom prst="roundRect">
            <a:avLst>
              <a:gd name="adj" fmla="val 50000"/>
            </a:avLst>
          </a:prstGeom>
          <a:solidFill>
            <a:srgbClr val="3DDC97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052560" y="4297680"/>
            <a:ext cx="102870" cy="822960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210294" y="3199929"/>
            <a:ext cx="102870" cy="1920711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368028" y="2331143"/>
            <a:ext cx="102870" cy="2789497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525762" y="1872531"/>
            <a:ext cx="102870" cy="3248109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683496" y="1919747"/>
            <a:ext cx="102870" cy="3200893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841230" y="2462945"/>
            <a:ext cx="102870" cy="2657695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998964" y="3388825"/>
            <a:ext cx="102870" cy="1731815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156698" y="4091089"/>
            <a:ext cx="102870" cy="1029551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314432" y="3018733"/>
            <a:ext cx="102870" cy="2101907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472166" y="2213136"/>
            <a:ext cx="102870" cy="2907504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629900" y="1842325"/>
            <a:ext cx="102870" cy="3278315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787634" y="1983643"/>
            <a:ext cx="102870" cy="3136997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945368" y="2607615"/>
            <a:ext cx="102870" cy="2513025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103102" y="3584095"/>
            <a:ext cx="102870" cy="1536545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260836" y="3885948"/>
            <a:ext cx="102870" cy="1234692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1418570" y="2846509"/>
            <a:ext cx="102870" cy="2274131"/>
          </a:xfrm>
          <a:prstGeom prst="roundRect">
            <a:avLst>
              <a:gd name="adj" fmla="val 50000"/>
            </a:avLst>
          </a:prstGeom>
          <a:solidFill>
            <a:srgbClr val="3DDC97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601200" y="4091940"/>
            <a:ext cx="124358" cy="571500"/>
          </a:xfrm>
          <a:prstGeom prst="roundRect">
            <a:avLst>
              <a:gd name="adj" fmla="val 50000"/>
            </a:avLst>
          </a:prstGeom>
          <a:solidFill>
            <a:srgbClr val="3DDC97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780422" y="2900948"/>
            <a:ext cx="124358" cy="1762492"/>
          </a:xfrm>
          <a:prstGeom prst="roundRect">
            <a:avLst>
              <a:gd name="adj" fmla="val 50000"/>
            </a:avLst>
          </a:prstGeom>
          <a:solidFill>
            <a:srgbClr val="3DDC97">
              <a:alpha val="8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959645" y="2378484"/>
            <a:ext cx="124358" cy="2284956"/>
          </a:xfrm>
          <a:prstGeom prst="roundRect">
            <a:avLst>
              <a:gd name="adj" fmla="val 50000"/>
            </a:avLst>
          </a:prstGeom>
          <a:solidFill>
            <a:srgbClr val="3DDC97">
              <a:alpha val="8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138867" y="2817818"/>
            <a:ext cx="124358" cy="1845622"/>
          </a:xfrm>
          <a:prstGeom prst="roundRect">
            <a:avLst>
              <a:gd name="adj" fmla="val 50000"/>
            </a:avLst>
          </a:prstGeom>
          <a:solidFill>
            <a:srgbClr val="3DDC97">
              <a:alpha val="8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318090" y="3972343"/>
            <a:ext cx="124358" cy="691097"/>
          </a:xfrm>
          <a:prstGeom prst="roundRect">
            <a:avLst>
              <a:gd name="adj" fmla="val 50000"/>
            </a:avLst>
          </a:prstGeom>
          <a:solidFill>
            <a:srgbClr val="3DDC97">
              <a:alpha val="8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497312" y="2989881"/>
            <a:ext cx="124358" cy="1673559"/>
          </a:xfrm>
          <a:prstGeom prst="roundRect">
            <a:avLst>
              <a:gd name="adj" fmla="val 50000"/>
            </a:avLst>
          </a:prstGeom>
          <a:solidFill>
            <a:srgbClr val="3DDC97">
              <a:alpha val="8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676534" y="2386832"/>
            <a:ext cx="124358" cy="2276608"/>
          </a:xfrm>
          <a:prstGeom prst="roundRect">
            <a:avLst>
              <a:gd name="adj" fmla="val 50000"/>
            </a:avLst>
          </a:prstGeom>
          <a:solidFill>
            <a:srgbClr val="3DDC97">
              <a:alpha val="8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855757" y="2740896"/>
            <a:ext cx="124358" cy="1922544"/>
          </a:xfrm>
          <a:prstGeom prst="roundRect">
            <a:avLst>
              <a:gd name="adj" fmla="val 50000"/>
            </a:avLst>
          </a:prstGeom>
          <a:solidFill>
            <a:srgbClr val="3DDC97">
              <a:alpha val="8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034979" y="3853328"/>
            <a:ext cx="124358" cy="810112"/>
          </a:xfrm>
          <a:prstGeom prst="roundRect">
            <a:avLst>
              <a:gd name="adj" fmla="val 50000"/>
            </a:avLst>
          </a:prstGeom>
          <a:solidFill>
            <a:srgbClr val="3DDC97">
              <a:alpha val="8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214202" y="3084182"/>
            <a:ext cx="124358" cy="1579258"/>
          </a:xfrm>
          <a:prstGeom prst="roundRect">
            <a:avLst>
              <a:gd name="adj" fmla="val 50000"/>
            </a:avLst>
          </a:prstGeom>
          <a:solidFill>
            <a:srgbClr val="3DDC97">
              <a:alpha val="8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CY384 · FINAL YEAR PROJECT PRESENTATION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7724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</a:t>
            </a:r>
            <a:endParaRPr lang="en-US" sz="7200" dirty="0"/>
          </a:p>
        </p:txBody>
      </p:sp>
      <p:sp>
        <p:nvSpPr>
          <p:cNvPr id="52" name="Text 50"/>
          <p:cNvSpPr/>
          <p:nvPr/>
        </p:nvSpPr>
        <p:spPr>
          <a:xfrm>
            <a:off x="822960" y="28803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Passwordless Authentication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Web Applications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841248" y="4160520"/>
            <a:ext cx="2926080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43434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Boakye Alfred Osei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Cybersecurity · FCM41.018.99.23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Cybersecurity and Information Systems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Mines and Technology, Tarkwa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Miss Audrey Asante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Passwords are still the weakest link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start with stolen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guessed credentials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06240" y="160020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434840" y="26060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begin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phishing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160020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092440" y="26060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breaches involve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element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Verizon Data Breach Investigations Report — 10,626 confirmed breaches analyzed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existing fix trades something away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599432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531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codes / magic links  —  </a:t>
            </a:r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Phishable; depend on a second channel the user must operate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056632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10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login  —  </a:t>
            </a:r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aiming a camera and screen real estate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513832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675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Passkeys (FIDO2/WebAuthn)  —  </a:t>
            </a:r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crypto — still needs explicit prompts on the right device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existing method lets you log in just by having your trusted phone nearby.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— ULTRASONIC PASSWORDLESS AUTHENTICATION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Echo works — five steps, no typing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1719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generates a non-exportable ECDSA P-256 keypair; public key registers with the server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33472" y="297180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61488" y="169164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9584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2958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2898648" y="2697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44368" y="3108960"/>
            <a:ext cx="1719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username on the laptop; the server issues a single-use, 96-bit nonce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97180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974336" y="169164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42432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74243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5111496" y="2697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57216" y="3108960"/>
            <a:ext cx="1719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laptop plays the nonce at 18–20 kHz via ggwave — inaudible to the user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59168" y="297180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187184" y="169164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5528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5" name="Text 23"/>
          <p:cNvSpPr/>
          <p:nvPr/>
        </p:nvSpPr>
        <p:spPr>
          <a:xfrm>
            <a:off x="7324344" y="2697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70064" y="3108960"/>
            <a:ext cx="1719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decodes the sound and shows an approve / deny prompt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72016" y="297180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400032" y="169164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68128" y="1965960"/>
            <a:ext cx="548640" cy="5486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812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60" dirty="0"/>
          </a:p>
        </p:txBody>
      </p:sp>
      <p:sp>
        <p:nvSpPr>
          <p:cNvPr id="31" name="Text 29"/>
          <p:cNvSpPr/>
          <p:nvPr/>
        </p:nvSpPr>
        <p:spPr>
          <a:xfrm>
            <a:off x="9537192" y="2697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582912" y="3108960"/>
            <a:ext cx="1719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signs the nonce; server verifies and pushes the session over WebSocket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600700"/>
            <a:ext cx="74981" cy="114300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78485" y="5519749"/>
            <a:ext cx="74981" cy="195251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08330" y="5443374"/>
            <a:ext cx="74981" cy="271626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38174" y="5375893"/>
            <a:ext cx="74981" cy="339107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68019" y="5321121"/>
            <a:ext cx="74981" cy="393879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97864" y="5282154"/>
            <a:ext cx="74981" cy="432846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327709" y="5261195"/>
            <a:ext cx="74981" cy="453805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457554" y="5259428"/>
            <a:ext cx="74981" cy="455572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587398" y="5276955"/>
            <a:ext cx="74981" cy="438045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717243" y="5312783"/>
            <a:ext cx="74981" cy="402217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847088" y="5364888"/>
            <a:ext cx="74981" cy="350112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976933" y="5430323"/>
            <a:ext cx="74981" cy="284677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106778" y="5505391"/>
            <a:ext cx="74981" cy="209609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236622" y="5585846"/>
            <a:ext cx="74981" cy="129154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2366467" y="5534259"/>
            <a:ext cx="74981" cy="180741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2496312" y="5456720"/>
            <a:ext cx="74981" cy="258280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2626157" y="5387320"/>
            <a:ext cx="74981" cy="327680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2756002" y="5329984"/>
            <a:ext cx="74981" cy="385016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885846" y="5287951"/>
            <a:ext cx="74981" cy="427049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015691" y="5263598"/>
            <a:ext cx="74981" cy="451402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145536" y="5258303"/>
            <a:ext cx="74981" cy="456697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3275381" y="5272364"/>
            <a:ext cx="74981" cy="442636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405226" y="5304986"/>
            <a:ext cx="74981" cy="410014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535070" y="5354325"/>
            <a:ext cx="74981" cy="360675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664915" y="5417593"/>
            <a:ext cx="74981" cy="297407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794760" y="5491212"/>
            <a:ext cx="74981" cy="223788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3924605" y="5571020"/>
            <a:ext cx="74981" cy="143980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054450" y="5548894"/>
            <a:ext cx="74981" cy="166106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184294" y="5470336"/>
            <a:ext cx="74981" cy="244664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314139" y="5399148"/>
            <a:ext cx="74981" cy="315852"/>
          </a:xfrm>
          <a:prstGeom prst="roundRect">
            <a:avLst>
              <a:gd name="adj" fmla="val 50000"/>
            </a:avLst>
          </a:prstGeom>
          <a:solidFill>
            <a:srgbClr val="1C7293">
              <a:alpha val="6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4663440" y="528523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time: ~8–10 seconds end to end, with zero typing beyond a username.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— ULTRASONIC PASSWORDLESS AUTHENTICATION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components, one round trip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Laptop Browser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ggwave sound encoder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client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22860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0B1E3D"/>
          </a:solidFill>
          <a:ln w="15875">
            <a:solidFill>
              <a:srgbClr val="0B1E3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 Server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2834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ws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issuance &amp; verification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69680" y="22860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0684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PWA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06840" y="2834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listener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ggwave decoder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WebCrypto ECDSA signer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3063240"/>
            <a:ext cx="1417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246120" y="2679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)))  18–20 kHz ultrasound  (((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52360" y="3063240"/>
            <a:ext cx="1417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406640" y="26791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 +  WebSocket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51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</a:t>
            </a:r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SQLite · ws · ggwave (WASM) · WebCrypto ECDSA P-256 · vanilla JS front ends — no framework needed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secret ever travels over sound — the nonce is public, single-use, and signed only by the phone's private key.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— ULTRASONIC PASSWORDLESS AUTHENTICATION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considered, and how Echo answers them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297680"/>
        </p:xfrm>
        <a:graphic>
          <a:graphicData uri="http://schemas.openxmlformats.org/drawingml/2006/table">
            <a:tbl>
              <a:tblPr/>
              <a:tblGrid>
                <a:gridCol w="3749040"/>
                <a:gridCol w="5029200"/>
                <a:gridCol w="23134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of recorded login sound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Single-use 96-bit nonce, 30 s TTL, burned before verification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forgery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ECDSA P-256 / SHA-256; private key never leaves the phone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redirect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binds origin + device; travels phone → server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Stolen, unlocked phone nearby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prompt on every signature; biometric gate planned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(P1)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attack over the network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Ultrasound's short range (~1–2 m) is a soft proximity proof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v1 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— ULTRASONIC PASSWORDLESS AUTHENTICATION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cryptography holds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572000"/>
          </a:xfrm>
          <a:prstGeom prst="roundRect">
            <a:avLst>
              <a:gd name="adj" fmla="val 2564"/>
            </a:avLst>
          </a:prstGeom>
          <a:solidFill>
            <a:srgbClr val="132C52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31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/ 31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passed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v22.22.3 · run locally · 8 August 2026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05840" y="4434840"/>
            <a:ext cx="2651760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test-flow.js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login process — replay, forgery, wrong-device, reused tokens, recovery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4617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/ 22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394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test-cross-talk.js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one user's phone approving another user's login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5394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1783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scenarios directly tested — every one correctly blocked: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80560" y="2414016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27685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up without a valid enrollment code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2916936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77977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an already-used sign-up or claim token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80560" y="3419856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8269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Replaying an already-consumed login nonce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3922776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78561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signature made with the wrong private key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80560" y="4425696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428853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signature used against the wrong user's device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80560" y="4928616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479145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 with a phone already removed from the account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80560" y="5440680"/>
            <a:ext cx="7178040" cy="822960"/>
          </a:xfrm>
          <a:prstGeom prst="roundRect">
            <a:avLst>
              <a:gd name="adj" fmla="val 8889"/>
            </a:avLst>
          </a:prstGeom>
          <a:solidFill>
            <a:srgbClr val="12384F"/>
          </a:solidFill>
          <a:ln w="12700">
            <a:solidFill>
              <a:srgbClr val="1C55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5440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what the tests check: nothing secret travels through the sound, and replay / forgery attacks are effectively impossible against this system.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— ULTRASONIC PASSWORDLESS AUTHENTICATION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reliability — measured, not assumed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017520" cy="42519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90%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success rate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 m in a quiet room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3886200"/>
            <a:ext cx="210312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trials — 3 distances × 3 noise levels × 30 attempts each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8620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matrix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06440" y="17647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33488" y="17647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60536" y="17647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86200" y="227685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06440" y="214884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1488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trials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33488" y="214884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3488" y="21488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trials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0536" y="214884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0536" y="21488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trials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86200" y="295351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06440" y="2825496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2825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trials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33488" y="2825496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33488" y="2825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trials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860536" y="2825496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0536" y="2825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trials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86200" y="363016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806440" y="350215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350215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trials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33488" y="350215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33488" y="350215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trials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60536" y="350215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0536" y="350215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trials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86200" y="4343400"/>
            <a:ext cx="7589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0" y="45262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26280" y="45262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 built — logs success, timing, distance, noise to CSV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14800" y="4983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26280" y="49834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feasibility test confirms the sound channel works at close range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114800" y="54406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26280" y="54406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270-trial data collection on presentation hardware — in progress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— ULTRASONIC PASSWORDLESS AUTHENTICATION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and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4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496312"/>
            <a:ext cx="82296" cy="82296"/>
          </a:xfrm>
          <a:prstGeom prst="ellipse">
            <a:avLst/>
          </a:prstGeom>
          <a:solidFill>
            <a:srgbClr val="B5473A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3317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attack: sound streamed over the internet, not through the air, can defeat the proximity assumption — an accepted v1 risk, not solved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364992"/>
            <a:ext cx="82296" cy="82296"/>
          </a:xfrm>
          <a:prstGeom prst="ellipse">
            <a:avLst/>
          </a:prstGeom>
          <a:solidFill>
            <a:srgbClr val="B5473A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32004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Stolen-but-unlocked-phone: biometric (WebAuthn) gate before signing was planned but not finished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233672"/>
            <a:ext cx="82296" cy="82296"/>
          </a:xfrm>
          <a:prstGeom prst="ellipse">
            <a:avLst/>
          </a:prstGeom>
          <a:solidFill>
            <a:srgbClr val="B5473A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40690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enrolled phone per user — no multi-device support or revocation UI yet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5102352"/>
            <a:ext cx="82296" cy="82296"/>
          </a:xfrm>
          <a:prstGeom prst="ellipse">
            <a:avLst/>
          </a:prstGeom>
          <a:solidFill>
            <a:srgbClr val="B5473A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49377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PWA, not a native app — no hardware keystore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5422392" cy="4343400"/>
          </a:xfrm>
          <a:prstGeom prst="roundRect">
            <a:avLst>
              <a:gd name="adj" fmla="val 1684"/>
            </a:avLst>
          </a:prstGeom>
          <a:solidFill>
            <a:srgbClr val="0B1E3D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37960" y="2496312"/>
            <a:ext cx="82296" cy="8229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7" name="Text 15"/>
          <p:cNvSpPr/>
          <p:nvPr/>
        </p:nvSpPr>
        <p:spPr>
          <a:xfrm>
            <a:off x="6784848" y="2331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WebAuthn biometric gate on the phone before signing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3209544"/>
            <a:ext cx="82296" cy="8229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9" name="Text 17"/>
          <p:cNvSpPr/>
          <p:nvPr/>
        </p:nvSpPr>
        <p:spPr>
          <a:xfrm>
            <a:off x="6784848" y="30449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270-attempt distance / noise evaluation on presentation hardware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3922776"/>
            <a:ext cx="82296" cy="8229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1" name="Text 19"/>
          <p:cNvSpPr/>
          <p:nvPr/>
        </p:nvSpPr>
        <p:spPr>
          <a:xfrm>
            <a:off x="6784848" y="375818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relay-attack mitigation: amplitude / RTT heuristics as a second signal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4636008"/>
            <a:ext cx="82296" cy="8229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3" name="Text 21"/>
          <p:cNvSpPr/>
          <p:nvPr/>
        </p:nvSpPr>
        <p:spPr>
          <a:xfrm>
            <a:off x="6784848" y="447141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multi-device enrollment and a revocation UI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5349240"/>
            <a:ext cx="82296" cy="8229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5" name="Text 23"/>
          <p:cNvSpPr/>
          <p:nvPr/>
        </p:nvSpPr>
        <p:spPr>
          <a:xfrm>
            <a:off x="6784848" y="51846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with a native Android keystore-backed app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— ULTRASONIC PASSWORDLESS AUTHENTICATION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2331720"/>
            <a:ext cx="125730" cy="502920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58834" y="1660872"/>
            <a:ext cx="125730" cy="1173768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39428" y="1129948"/>
            <a:ext cx="125730" cy="1704692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320022" y="849684"/>
            <a:ext cx="125730" cy="1984956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00616" y="878539"/>
            <a:ext cx="125730" cy="1956101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81210" y="1210493"/>
            <a:ext cx="125730" cy="1624147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861804" y="1776308"/>
            <a:ext cx="125730" cy="1058332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42398" y="2205470"/>
            <a:ext cx="125730" cy="629170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222992" y="1550142"/>
            <a:ext cx="125730" cy="1284498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03586" y="1057832"/>
            <a:ext cx="125730" cy="1776808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584180" y="831225"/>
            <a:ext cx="125730" cy="2003415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764774" y="917586"/>
            <a:ext cx="125730" cy="1917054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945368" y="1298903"/>
            <a:ext cx="125730" cy="1535737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125962" y="1895640"/>
            <a:ext cx="125730" cy="939000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306556" y="2080106"/>
            <a:ext cx="125730" cy="754534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87150" y="1444893"/>
            <a:ext cx="125730" cy="1389747"/>
          </a:xfrm>
          <a:prstGeom prst="roundRect">
            <a:avLst>
              <a:gd name="adj" fmla="val 50000"/>
            </a:avLst>
          </a:prstGeom>
          <a:solidFill>
            <a:srgbClr val="3DDC97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10515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Sound-anchored, cryptographically solid —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proof still to be measured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7 objectives fully met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0175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review of why passwords fail vs. existing passwordless methods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34015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4015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Sound-based transmission layer, with audible fallback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378561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378561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server: sign-up, one-time codes, signature checking, recovery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41696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16966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 with a non-exportable device signing key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45537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455371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31-check automated test suite — run and passing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2960" y="4937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" y="49377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recovery — delivered via email link instead of the original recovery-code design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2514600"/>
            <a:ext cx="0" cy="356616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open item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537960" y="30175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270-trial distance / noise evaluation is designed and ready to run, but not yet executed on real presentation hardware — so the headline reliability number is not yet backed by data.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37960" y="4343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stated here plainly, not hidden behind invented numbers — the cryptography's correctness, though, is proven: 31 / 31 tests passing.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2026-08-08T18:33:28Z</dcterms:created>
  <dcterms:modified xsi:type="dcterms:W3CDTF">2026-08-08T18:33:28Z</dcterms:modified>
</cp:coreProperties>
</file>